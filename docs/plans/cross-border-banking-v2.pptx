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跨境收付款合规与资金池管理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东南亚 · 香港 · 台湾 · 澳大利亚 · 新西兰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Payments &amp; Cash Pooling — Internal Training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适用对象：跨境业务专员 · 产品经理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3 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5760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基于公开监管文件与官方 FAQ 整理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一页看懂：给银行前台与产品经理的 5 个判断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57200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区域财资中心优先放新加坡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新加坡无外汇管制，MAS 监管透明，税务优惠，是中资企业亚太区资金池的首选枢纽。澳洲/新西兰更适合承接开放型收付、融资与 FX hub。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743200"/>
            <a:ext cx="457200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74320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马来西亚、泰国可做区域运营，但需文件驱动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 不可离岸交割，THB 有用途限制。需把用途证明、FX notices、银行审核写进标准流程，不能粗暴复制新加坡模板。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4805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4480560"/>
            <a:ext cx="457200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48056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印尼、越南不是不能做，而是不能用开放市场模板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本地化强制要求，VND 不可自由兑换。更适合先做境内集中与定期释放，不适合承诺每日自动跨境 sweep。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005840"/>
            <a:ext cx="457200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0584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1097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香港是离岸人民币的核心枢纽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1554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全球最大 CNH 中心，CIPS 直连内地，跨境人民币资金池可行。中资企业出海的人民币结算首选地。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7432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743200"/>
            <a:ext cx="457200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743200"/>
            <a:ext cx="457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66560" y="2834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资金池的价值不只是归集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3291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账户可视、净额结算、授信与避险一体化才是真正的价值。最容易被低估的产品是 virtual account + 对账 + rule engine。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区域分层：监管强度 × 资金池可行性 — 两条不同坐标轴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" y="1371600"/>
            <a:ext cx="457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区域资金池可行性 ↑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 / 外汇限制强度 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005840"/>
            <a:ext cx="5303520" cy="256032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005840"/>
            <a:ext cx="5760720" cy="2560320"/>
          </a:xfrm>
          <a:prstGeom prst="rect">
            <a:avLst/>
          </a:prstGeom>
          <a:solidFill>
            <a:srgbClr val="FDE8D0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749040"/>
            <a:ext cx="5303520" cy="2468880"/>
          </a:xfrm>
          <a:prstGeom prst="rect">
            <a:avLst/>
          </a:prstGeom>
          <a:solidFill>
            <a:srgbClr val="FDE8D0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3749040"/>
            <a:ext cx="5760720" cy="246888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051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自由型：可以上 full toolkit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417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/ POBO / ROBO / notional / physical sweep / FX center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1051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管理型：文件驱动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417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docs / FCA-FCD / selective sweep / local rules first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管理型：先境内、后跨境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in-country pool / dividend-loan calendar / LCS-CNY / trapped cash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3794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控制型：先活着回款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4160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payment-only / prefunding / contingency banking / ring-fencing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0" y="1627632"/>
            <a:ext cx="54864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162763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1901952"/>
            <a:ext cx="54864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190195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0" y="2176272"/>
            <a:ext cx="54864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217627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1444752"/>
            <a:ext cx="54864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144475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0560" y="2724912"/>
            <a:ext cx="548640" cy="402336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272491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1444752"/>
            <a:ext cx="548640" cy="402336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44475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98080" y="1810512"/>
            <a:ext cx="548640" cy="402336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181051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12480" y="2176272"/>
            <a:ext cx="548640" cy="402336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217627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26880" y="2542032"/>
            <a:ext cx="548640" cy="402336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254203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4187952"/>
            <a:ext cx="548640" cy="402336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418795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40880" y="4553712"/>
            <a:ext cx="5486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455371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4828032"/>
            <a:ext cx="5486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0" y="482803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44000" y="5102352"/>
            <a:ext cx="5486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0" y="510235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058400" y="5285232"/>
            <a:ext cx="548640" cy="40233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0" y="5285232"/>
            <a:ext cx="548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6035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读图要点：AU/NZ 与 SG 同属高可行性，但实操关注点从「外汇限制」转向 AML/sanctions/tax。ID/VN/LA 更适合先做境内集中与定期释放。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国家快照 I：自由型市场 — 新加坡、香港、台湾、澳大利亚、新西兰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2344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960120"/>
            <a:ext cx="14173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9601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监管层级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960120"/>
            <a:ext cx="22860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9601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主要限制 / Policy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960120"/>
            <a:ext cx="26517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960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对资金池的含义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960120"/>
            <a:ext cx="19202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960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银行可卖产品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241280" y="960120"/>
            <a:ext cx="18288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0" y="960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建议定位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389888"/>
            <a:ext cx="123444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426464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00200" y="1389888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1426464"/>
            <a:ext cx="1325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1389888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42646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无外汇管制；PSA 2019 规范支付机构；AML/CTF 严格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138988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42646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最适合作区域财资中心、header account、内部 netting 与多币种流动性管理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1389888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142646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多币种账户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notional/physical pool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POBO/ROBO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RMB/FX 套保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241280" y="1389888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87000" y="142646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/ Header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区域枢纽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350008"/>
            <a:ext cx="123444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386584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香港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600200" y="2350008"/>
            <a:ext cx="141732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386584"/>
            <a:ext cx="1325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08960" y="2350008"/>
            <a:ext cx="228600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238658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港元联系汇率；无外汇管制；全球最大 CNH 中心；CIPS 直连内地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2350008"/>
            <a:ext cx="265176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238658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离岸人民币结算首选；内地-香港跨境人民币资金池可行（需 SAFE 批准）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29600" y="2350008"/>
            <a:ext cx="192024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238658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 账户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跨境人民币池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转数快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CIPS 直连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241280" y="2350008"/>
            <a:ext cx="182880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87000" y="238658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 枢纽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人民币结算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310128"/>
            <a:ext cx="1234440" cy="914400"/>
          </a:xfrm>
          <a:prstGeom prst="rect">
            <a:avLst/>
          </a:prstGeom>
          <a:solidFill>
            <a:srgbClr val="D4680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346704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台湾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600200" y="3310128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45920" y="3346704"/>
            <a:ext cx="1325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08960" y="3310128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54680" y="334670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TWD 受管制；居民年度汇出上限 USD 5,000 万；OBU 账户不受限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0" y="33101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334670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OBU 账户操作跨境资金，规避新台币管制；中资背景需注意投资审查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29600" y="3310128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5320" y="334670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 多币种账户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跨境汇款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套保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241280" y="3310128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87000" y="334670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OBU 通道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规则内操作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270248"/>
            <a:ext cx="123444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306824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澳大利亚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600200" y="4270248"/>
            <a:ext cx="141732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0" y="4306824"/>
            <a:ext cx="1325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08960" y="4270248"/>
            <a:ext cx="228600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54680" y="430682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无外汇管制；AUSTRAC AML/CTF 严格；AUD 10,000+ 跨境须 IFTI 报告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486400" y="4270248"/>
            <a:ext cx="265176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32120" y="430682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最适合承接开放型 sweep、融资、区域授信与套保；NPP 即时支付基础设施领先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229600" y="4270248"/>
            <a:ext cx="192024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75320" y="430682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concentration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NPP/PayID/Osko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应付工厂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授信/套保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0241280" y="4270248"/>
            <a:ext cx="182880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87000" y="430682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开放节点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首选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5230368"/>
            <a:ext cx="123444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5266944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新西兰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600200" y="5230368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45920" y="5266944"/>
            <a:ext cx="1325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08960" y="5230368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54680" y="526694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无外汇管制；与澳洲高度互通；Trans-Tasman 协议；AML/CFT 要求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86400" y="52303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32120" y="526694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与澳洲组合设计最自然，可作为 ANZ 子区域开放节点，方便 dividend、loan servicing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229600" y="5230368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75320" y="526694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一体化账户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开放型归集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批量付款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241280" y="5230368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287000" y="526694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澳新一体化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子区域节点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截至 2026 年 3 月公开监管与银行披露；落地以当地银行 KYC / 制裁 / 最新监管口径为准。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国家快照 II：管理型 &amp; 控制型市场 — 马来西亚、泰国、印尼、越南、菲律宾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2344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960120"/>
            <a:ext cx="14173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9601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监管层级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960120"/>
            <a:ext cx="22860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9601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主要限制 / Policy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960120"/>
            <a:ext cx="26517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960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对资金池的含义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960120"/>
            <a:ext cx="19202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960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银行可卖产品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241280" y="960120"/>
            <a:ext cx="18288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0" y="960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建议定位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389888"/>
            <a:ext cx="1234440" cy="914400"/>
          </a:xfrm>
          <a:prstGeom prst="rect">
            <a:avLst/>
          </a:prstGeom>
          <a:solidFill>
            <a:srgbClr val="D4680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426464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马来西亚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00200" y="1389888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1426464"/>
            <a:ext cx="1325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1389888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42646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 不可离岸交割；FEP 管理经常项；居民年度对外投资上限 MYR 5,000 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138988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42646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可做区域运营与本地归集，但需把 borrowing/guarantee/hedging 规则嵌入流程；不能完全自由 sweep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1389888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142646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本地收付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文档校验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FX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贸易融资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241280" y="1389888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87000" y="142646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规则内自动化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本地归集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350008"/>
            <a:ext cx="1234440" cy="914400"/>
          </a:xfrm>
          <a:prstGeom prst="rect">
            <a:avLst/>
          </a:prstGeom>
          <a:solidFill>
            <a:srgbClr val="D4680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386584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泰国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600200" y="2350008"/>
            <a:ext cx="141732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386584"/>
            <a:ext cx="1325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08960" y="2350008"/>
            <a:ext cx="228600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238658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THB 受管制；超 USD 50,000 需 FET 表格；FCD 账户有使用限制；资金汇出需证明文件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2350008"/>
            <a:ext cx="265176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238658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适合做本地 FCD + 区域付款中心；不宜把泰国账户当成完全自由的跨实体 cash hub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29600" y="2350008"/>
            <a:ext cx="192024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238658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FCD 账户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批量付款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本地清算接入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套保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241280" y="2350008"/>
            <a:ext cx="182880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87000" y="238658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半集中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文件驱动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3310128"/>
            <a:ext cx="123444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346704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印度尼西亚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600200" y="3310128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45920" y="3346704"/>
            <a:ext cx="1325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08960" y="3310128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54680" y="334670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本地化强制；2024 年新外汇法加强管控；资源类出口回款须 100% 存放 12 个月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0" y="33101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334670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更适合 ring-fenced liquidity；先做可视化与净额结算，再谈集中归集；矿业客户需分行业处理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29600" y="3310128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5320" y="334670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预审付款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出口收入监测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虚拟子账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LCT corridor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0241280" y="3310128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87000" y="334670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Ring-fenced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境内池优先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270248"/>
            <a:ext cx="123444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306824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越南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600200" y="4270248"/>
            <a:ext cx="141732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0" y="4306824"/>
            <a:ext cx="1325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08960" y="4270248"/>
            <a:ext cx="228600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54680" y="430682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VND 不可自由兑换；FIE 资本账户 + 经常账户分离；USD 1,000+ 须向 SBV 报告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486400" y="4270248"/>
            <a:ext cx="265176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32120" y="430682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不宜假设自由归集；更适合「专户 + 真实性单证 + 资金用途映射」；区域池应把越南作为受控节点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229600" y="4270248"/>
            <a:ext cx="192024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75320" y="430682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资本金账户支持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预审式付款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 路径设计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风险管理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0241280" y="4270248"/>
            <a:ext cx="1828800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87000" y="430682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受控节点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定期释放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5230368"/>
            <a:ext cx="1234440" cy="914400"/>
          </a:xfrm>
          <a:prstGeom prst="rect">
            <a:avLst/>
          </a:prstGeom>
          <a:solidFill>
            <a:srgbClr val="D4680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5266944"/>
            <a:ext cx="11430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菲律宾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1600200" y="5230368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45920" y="5266944"/>
            <a:ext cx="13258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108960" y="5230368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54680" y="5266944"/>
            <a:ext cx="21945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跨境转移超 PHP 50,000 需 BSP 授权；对外投资超 USD 6,000 万需事先批准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86400" y="52303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32120" y="5266944"/>
            <a:ext cx="256032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可做区域营业收付与批量付款，但本币跨境限制意味着 pool 更适合以外币/镜像账户方式设计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229600" y="5230368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75320" y="526694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ACH/InstaPay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外币账户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批量付款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purchase workflow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241280" y="5230368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287000" y="5266944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镜像池/外币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区域收付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截至 2026 年 3 月公开监管与银行披露；落地以当地银行 KYC / 制裁 / 最新监管口径为准。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产品堆叠逻辑：不同市场层级，卖不同产品组合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· HK · AU · NZ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743200" cy="1371600"/>
          </a:xfrm>
          <a:prstGeom prst="rect">
            <a:avLst/>
          </a:prstGeom>
          <a:solidFill>
            <a:srgbClr val="1A7A4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流动性层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 / physical pool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sweep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center / hedging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383280"/>
            <a:ext cx="2743200" cy="13716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POBO / ROBO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account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reconciliation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937760"/>
            <a:ext cx="2743200" cy="13716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983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5303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account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H2H connectivity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004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· TH · PH · TW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828800"/>
            <a:ext cx="2743200" cy="1371600"/>
          </a:xfrm>
          <a:prstGeom prst="rect">
            <a:avLst/>
          </a:prstGeom>
          <a:solidFill>
            <a:srgbClr val="D4680A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流动性层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sweep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/ FCD accounts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FX hedging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383280"/>
            <a:ext cx="2743200" cy="13716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749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validation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purpose coding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payments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4937760"/>
            <a:ext cx="2743200" cy="13716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4983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5303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collection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clearing (DuitNow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PromptPay / InstaPay)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64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VN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1828800"/>
            <a:ext cx="2743200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流动性层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in-country pool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dividend-loan calendar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cash dashboard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383280"/>
            <a:ext cx="2743200" cy="13716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749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pre-screened payments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proceeds monitor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sub-accounts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4937760"/>
            <a:ext cx="2743200" cy="13716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4983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5303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accounts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doc workflow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LCT / CNY corridor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52560" y="1005840"/>
            <a:ext cx="2743200" cy="6400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5256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525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52560" y="1828800"/>
            <a:ext cx="2743200" cy="1371600"/>
          </a:xfrm>
          <a:prstGeom prst="rect">
            <a:avLst/>
          </a:prstGeom>
          <a:solidFill>
            <a:srgbClr val="6C3483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治理层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4400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rule engine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contingency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management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052560" y="3383280"/>
            <a:ext cx="2743200" cy="137160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控制层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44000" y="3749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payment-only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prefunding model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ring-fencing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52560" y="4937760"/>
            <a:ext cx="2743200" cy="13716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0" y="4983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基础层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144000" y="5303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 banking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screening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最容易被低估的产品不是现金池，而是 virtual account + 对账 + rule engine。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推荐架构：区域中心 + 多个本地规则适配层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286000" cy="13716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中国总部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资金中心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 / 额度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组内借贷框架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783080"/>
            <a:ext cx="914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5544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CNH/CNY 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914400"/>
            <a:ext cx="2743200" cy="1737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推荐主中枢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新加坡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1691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区域财资中心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/ POBO / ROBO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多币种流动性管理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 FX 与对冲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914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5544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AUD/NZD 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914400"/>
            <a:ext cx="2286000" cy="1737360"/>
          </a:xfrm>
          <a:prstGeom prst="rect">
            <a:avLst/>
          </a:prstGeom>
          <a:solidFill>
            <a:srgbClr val="007DBA"/>
          </a:solidFill>
          <a:ln w="12700">
            <a:solidFill>
              <a:srgbClr val="007D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第二核心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1234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澳大利亚/新西兰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本地融资、收付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对冲与 reporting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/ Osko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84080" y="914400"/>
            <a:ext cx="2103120" cy="1737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914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 枢纽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84080" y="1234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香港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84080" y="16916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离岸人民币中心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CIPS 直连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 ↔ USD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651760"/>
            <a:ext cx="0" cy="73152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474720"/>
            <a:ext cx="5669280" cy="1371600"/>
          </a:xfrm>
          <a:prstGeom prst="rect">
            <a:avLst/>
          </a:prstGeom>
          <a:solidFill>
            <a:srgbClr val="FDE8D0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6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管理型市场：MY / TH / PH / TW / KH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可择优归集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FCA/FCD / supporting docs / selective sweep / local treasury center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文件驱动 + 规则内自动化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474720"/>
            <a:ext cx="5760720" cy="137160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控制型市场：ID / VN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39319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计划性释放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in-country pool / dividend-loan calendar / trade-backed release / LCS-CNY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先境内池、再定期释放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3383280"/>
            <a:ext cx="0" cy="91440"/>
          </a:xfrm>
          <a:prstGeom prst="line">
            <a:avLst/>
          </a:prstGeom>
          <a:noFill/>
          <a:ln w="19050">
            <a:solidFill>
              <a:srgbClr val="D468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1120" y="3383280"/>
            <a:ext cx="0" cy="9144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5029200"/>
            <a:ext cx="11612880" cy="109728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5074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结构口诀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5486400"/>
            <a:ext cx="27432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486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自由型 → 做「池」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5486400"/>
            <a:ext cx="2743200" cy="50292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5486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管理型 → 做「带文件的池」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5486400"/>
            <a:ext cx="27432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5486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控制型 → 做「带日历的池」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06840" y="5486400"/>
            <a:ext cx="274320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06840" y="5486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 → 做「带护城河的支付工厂」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公开案例启示：先把中心、账户、对账和规则搭起来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669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6692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制造业出海 × 渣打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051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公开案例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508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中资电子制造企业在越南+泰国+马来西亚设立生产基地，需要区域资金归集。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103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 RTC + 各国 USD 外币账户每日扫账 + 本地货币余额保留本地。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697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697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合规先行：提前 6 个月启动各国合规申请；分阶段实施，先自由市场再管制市场。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840480"/>
            <a:ext cx="5669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840480"/>
            <a:ext cx="56692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科技企业 × HSBC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886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公开案例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4343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中资 SaaS 企业在新加坡设立亚太区总部，需要多币种流动性管理。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4937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 RTC + MAS 财资中心激励（税率 8%）+ 虚拟资金池 + HSBCnet 统一平台。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5532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55321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虚拟池规避了日韩外汇管制；MAS 激励计划申请需提前 6 个月准备。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005840"/>
            <a:ext cx="5669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005840"/>
            <a:ext cx="56692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贸易企业 × HSBC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07040" y="1051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公开案例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40880" y="1508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中资大宗商品贸易企业，内地采购用人民币，东南亚销售用美元，汇率风险大。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21031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香港 CNH 枢纽 + 新加坡 USD 区域池 + CIPS 直连内地 + 实时 FX 对冲。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697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40880" y="2697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香港是人民币跨境结算最优枢纽；CNH 与 CNY 汇差可创造套利机会。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840480"/>
            <a:ext cx="5669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840480"/>
            <a:ext cx="56692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矿产贸易 × ANZ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607040" y="3886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公开案例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4343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中资矿产企业进入澳新市场，需要本地即时收付和 AUSTRAC 合规。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做法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40880" y="4937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Transactive Global + PayID 企业收款 + Osko 即时到账 + 澳新合并资金池。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5532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启示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40880" y="55321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是澳新市场中资企业最佳合作伙伴；PayID 显著提升本地收款效率。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DBA"/>
          </a:solidFill>
          <a:ln w="12700">
            <a:solidFill>
              <a:srgbClr val="007DB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ANZ 产品聚焦：Transactive Global + NPP 即时支付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7×24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全天候即时到账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通常到账时间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7432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 500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跨境入境近实时上限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1005840"/>
            <a:ext cx="27432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5256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已接入国际银行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5669280" cy="2286000"/>
          </a:xfrm>
          <a:prstGeom prst="rect">
            <a:avLst/>
          </a:prstGeom>
          <a:solidFill>
            <a:srgbClr val="D6E8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 Transactive Global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256032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多币种账户管理（单一平台）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跨境付款：支持 30+ 货币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实时汇率查询和 FX 交易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批量付款：CSV 批量上传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付款审批工作流：多级授权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集成：RESTful API，支持 ERP 直连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市场：AU、NZ、CN、HK、IN、SG、VN、PH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103120"/>
            <a:ext cx="5760720" cy="2286000"/>
          </a:xfrm>
          <a:prstGeom prst="rect">
            <a:avLst/>
          </a:prstGeom>
          <a:solidFill>
            <a:srgbClr val="D6E8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NPP 新支付平台（2024 年跨境新功能）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56032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PayID：用手机号/邮箱/ABN 收款，无需账号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Osko：即时到账（&lt; 60 秒），7×24 全天候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2024.7：ANZ 首家通过 NPP 结算跨境交易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2024.12：扩展至所有 AUD 清算服务客户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跨境入境 AUD 500 以内近实时到账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意义：跨境汇款速度接近国内转账体验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5720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五家银行横向对比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937760"/>
            <a:ext cx="2322576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9377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银行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96896" y="4937760"/>
            <a:ext cx="2322576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49377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覆盖市场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19472" y="4937760"/>
            <a:ext cx="2322576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65192" y="49377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核心平台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42048" y="4937760"/>
            <a:ext cx="2322576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7768" y="49377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亚太优势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564624" y="4937760"/>
            <a:ext cx="2322576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10344" y="49377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适合客群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525780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525780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96896" y="525780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42616" y="525780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国家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19472" y="525780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525780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HSBCnet + API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42048" y="525780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87768" y="525780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亚太最强本地网络，CNH 领先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564624" y="525780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10344" y="525780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大型跨国企业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5577840"/>
            <a:ext cx="2322576" cy="32004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557784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渣打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96896" y="5577840"/>
            <a:ext cx="2322576" cy="32004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42616" y="557784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市场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19472" y="5577840"/>
            <a:ext cx="2322576" cy="32004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557784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Straight2Bank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42048" y="5577840"/>
            <a:ext cx="2322576" cy="32004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87768" y="557784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新兴市场深耕，本地合规强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564624" y="5577840"/>
            <a:ext cx="2322576" cy="32004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10344" y="557784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中型企业，新兴市场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589788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5897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花旗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96896" y="589788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42616" y="5897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160+ 国家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19472" y="589788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65192" y="5897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TreasuryVision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42048" y="589788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87768" y="5897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全球覆盖最广，技术领先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564624" y="589788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10344" y="5897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超大型跨国企业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6217920"/>
            <a:ext cx="2322576" cy="32004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621792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摩根大通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596896" y="6217920"/>
            <a:ext cx="2322576" cy="32004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42616" y="621792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货币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919472" y="6217920"/>
            <a:ext cx="2322576" cy="32004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65192" y="621792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JPM Coin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242048" y="6217920"/>
            <a:ext cx="2322576" cy="32004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87768" y="621792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机构级服务，信用评级最高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564624" y="6217920"/>
            <a:ext cx="2322576" cy="320040"/>
          </a:xfrm>
          <a:prstGeom prst="rect">
            <a:avLst/>
          </a:prstGeom>
          <a:solidFill>
            <a:srgbClr val="D6E8F5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610344" y="621792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机构级大型企业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653796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65379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596896" y="653796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642616" y="65379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澳新+东南亚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919472" y="653796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65192" y="65379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Transactive Global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242048" y="653796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87768" y="65379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澳新市场份额最大，NPP 领先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9564624" y="6537960"/>
            <a:ext cx="2322576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610344" y="65379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澳新业务中型企业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给一线和产品经理的 90 天推进法：先打地基，再试点，再扩展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0" y="1005840"/>
            <a:ext cx="64008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840480" y="1325880"/>
            <a:ext cx="6400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188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37360"/>
            <a:ext cx="37490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天：把流向画出来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主体结构、账户、币种、收付路径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监管限制、单证、注册、贷款/分红路径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先定义哪些钱能动、哪些钱会困住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3566160" cy="548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交付物：资金地图 + country matrix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005840"/>
            <a:ext cx="640080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772400" y="1325880"/>
            <a:ext cx="6400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188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06240" y="173736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1737360"/>
            <a:ext cx="374904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天：先上基础层与效率层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SG/AU/NZ + MY/TH/PH 先 pilot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账户开立、API/H2H、virtual account、自动对账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单证模板、payment purpose 与 screening 固化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4206240"/>
            <a:ext cx="3566160" cy="548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4206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交付物：pilot 收付与对账上线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09760" y="1005840"/>
            <a:ext cx="64008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8138160" y="173736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1737360"/>
            <a:ext cx="374904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天：分层做流动性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自由型上 cross-border sweep / RTC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控制型上 in-country pool + release calendar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建立 country rule engine，给后续规模化留接口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4206240"/>
            <a:ext cx="3566160" cy="548640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206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交付物：分层流动性方案与规则引擎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三条红线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5486400"/>
            <a:ext cx="3749040" cy="73152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红线 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5760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不要用「全区域一池」去卖控制型市场。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06240" y="5486400"/>
            <a:ext cx="3749040" cy="73152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红线 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297680" y="5760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不要把 TP / WHT / 关联借贷 / 净额结算意见留到最后。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5486400"/>
            <a:ext cx="3749040" cy="73152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红线 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0" y="5760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不要低估 sanctions / AML / 银行 KYC 对开户和付款时效的影响。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先分层，再配产品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区域不是一个规则集，而是四层市场。同一套 cash pool 逻辑硬套到所有国家，通常就是项目翻车的开端。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枢纽策略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148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新加坡做区域财资中心，香港做人民币枢纽，澳新做开放型收付节点。管制市场用本地适配层。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银行组合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063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单一银行无法覆盖所有市场。HSBC/渣打覆盖亚太，ANZ 覆盖澳新，花旗/摩根大通覆盖全球。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合规先行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977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最好的跨境产品经理，不是把规则背下来的人；而是能把规则做进流程、参数和例外管理的人。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如有问题，请联系跨境业务团队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基于公开监管文件与官方 FAQ 整理；实务请以当地银行、最新监管口径及法律/税务意见为准。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2026-03-15T04:23:22Z</dcterms:created>
  <dcterms:modified xsi:type="dcterms:W3CDTF">2026-03-15T04:23:22Z</dcterms:modified>
</cp:coreProperties>
</file>