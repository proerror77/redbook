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跨境收付款合规与资金池管理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东南亚 · 香港 · 台湾 · 澳大利亚 · 新西兰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Payments &amp; Cash Pooling — Internal Training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5486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适用对象：跨境业务专员 · 产品经理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5943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年 3 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73152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34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第一章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区域宏观概览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0" y="14813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3–7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73152" cy="640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48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第二章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3957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个市场监管地图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0" y="23957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8–19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73152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063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第三章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3101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重点市场深度解析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01200" y="33101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20–27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931920"/>
            <a:ext cx="73152" cy="640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977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第四章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2245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跨境资金池产品对比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01200" y="42245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28–37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846320"/>
            <a:ext cx="73152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892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第五章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51389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中资企业出海案例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601200" y="51389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38–44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0"/>
            <a:ext cx="12188952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第一章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区域宏观概览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为什么东南亚、香港、台湾、澳新是中资企业出海的核心战场？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中资企业出海：为什么是这些市场？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5577840" cy="2194560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6187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东南亚 6 国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53949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总人口 6.8 亿，GDP 合计超 3.8 万亿美元。中国是最大贸易伙伴，RCEP 框架下关税持续降低，制造业转移和数字经济高速增长。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0" y="1188720"/>
            <a:ext cx="5577840" cy="219456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26187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香港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09360" y="1600200"/>
            <a:ext cx="53949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全球最重要的离岸人民币中心，日均人民币外汇交易量超 1,500 亿元。中资企业出海的资金中转枢纽，OTC 衍生品和跨境融资首选地。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657600"/>
            <a:ext cx="5577840" cy="2194560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73075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台湾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069080"/>
            <a:ext cx="53949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半导体供应链核心节点，OBU 离岸银行体系成熟，新台币管制下仍有灵活的跨境资金操作空间。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3657600"/>
            <a:ext cx="5577840" cy="219456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373075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澳大利亚 &amp; 新西兰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4069080"/>
            <a:ext cx="53949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中澳贸易额超 2,000 亿澳元，矿产、农业、教育、房地产是主要领域。NPP 即时支付基础设施全球领先，合规要求严格但透明。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个市场概览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46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4864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43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新加坡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自由港，无外汇管制，MAS 监管，资金池首选枢纽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54864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148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香港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4231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联系汇率，离岸人民币中心，HKMA 监管，高度自由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108960"/>
            <a:ext cx="54864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154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台湾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4290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新台币管制，OBU 体系，FSC+CBC 双监管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4114800"/>
            <a:ext cx="54864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160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澳大利亚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44348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AUSTRAC 监管，AML/CTF 严格，NPP 即时支付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5120640"/>
            <a:ext cx="54864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5166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新西兰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54406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FMA 监管，与澳洲高度互通，Trans-Tasman 协议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1097280"/>
            <a:ext cx="54864" cy="640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1143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马来西亚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55080" y="14173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BNM 外汇管制，林吉特不可离岸交割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2103120"/>
            <a:ext cx="54864" cy="640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2148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泰国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55080" y="24231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管制，泰铢管控，FCD 账户规则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3108960"/>
            <a:ext cx="54864" cy="640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3154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印度尼西亚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55080" y="34290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BI+OJK 双监管，卢比本地化，GWM 准备金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17920" y="4114800"/>
            <a:ext cx="54864" cy="640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4160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越南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55080" y="44348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SBV 严格管制，越盾不可自由兑换，FIE 账户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0" y="5120640"/>
            <a:ext cx="54864" cy="640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5166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菲律宾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55080" y="54406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BSP 监管，比索管制，USD 1 万申报门槛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跨境资金管理的核心挑战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46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394960" cy="1554480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887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11887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外汇管制差异大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个市场从完全自由（新加坡）到严格管制（越南）跨度极大，同一套方案无法通用。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834640"/>
            <a:ext cx="5394960" cy="155448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926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29260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合规成本高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3832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AML/CTF、FATF 要求、本地申报义务叠加，单笔跨境付款的合规审查成本持续上升。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4572000"/>
            <a:ext cx="5394960" cy="1554480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663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7280" y="46634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资金分散，流动性低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512064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多国子公司各自持有本地货币余额，集团层面无法有效调配，资金利用率低。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097280"/>
            <a:ext cx="5394960" cy="155448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11887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949440" y="11887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技术对接复杂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16459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各国支付系统（NPP、PayNow、PromptPay、FAST）标准不统一，API 对接工作量大。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2834640"/>
            <a:ext cx="5394960" cy="1554480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2926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49440" y="29260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开户周期长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55080" y="33832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部分市场（印尼、越南）外资企业开户需 3–6 个月，严重影响业务落地速度。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4572000"/>
            <a:ext cx="5394960" cy="155448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4663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949440" y="46634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汇率风险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55080" y="512064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多币种敞口管理难度高，缺乏统一的 FX 对冲平台导致汇兑损失。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本次培训学习目标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46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11430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掌握 10 个市场的外汇管制等级和核心合规要求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了解各市场跨境收付款的主要限制和申报门槛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熟悉 HSBC、渣打、花旗、摩根大通、ANZ 的跨境资金池产品特点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了解 ANZ Transactive Global 和 NPP 的核心功能与适用场景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 4 个真实案例，掌握中资企业出海资金池落地的关键路径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能够为客户提供差异化的跨境资金管理方案建议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5760720"/>
            <a:ext cx="11430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594360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培训时长约 1.5–2 小时，含 Q&amp;A 环节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0"/>
            <a:ext cx="12188952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第二章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个市场监管地图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外汇管制等级 · 收付款限制 · 申报门槛 · 资金池可行性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46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新加坡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监管机构：MAS（金融管理局）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601200" y="137160"/>
            <a:ext cx="2286000" cy="6400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0" y="1371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外汇管制：自由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7772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无外汇管制，资金可自由进出，无需申报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支付服务法（PSA 2019，2024 年修订）规范支付机构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FAST（即时转账）、PayNow（实名支付）、SWIFT GPI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跨境实时支付：已与泰国 PromptPay、马来西亚 DuitNow 互联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AML/CTF 要求严格，单笔 S$5,000 以上需 CDD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无资本管制，跨境资金池可完全自由运作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企业开户：外资企业通常 2–4 周可完成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新加坡是中资企业亚太区资金池的首选枢纽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412480" y="1143000"/>
            <a:ext cx="3566160" cy="5029200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0" y="12344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实操要点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03920" y="1600200"/>
            <a:ext cx="33832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资金池可行性：高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推荐结构：以新加坡为区域资金池中心，归集东南亚各子公司余额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注意：需符合 MAS AML 要求，大额交易需留存交易目的文件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46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香港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监管机构：HKMA（香港金融管理局）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601200" y="137160"/>
            <a:ext cx="2286000" cy="6400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0" y="1371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外汇管制：自由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7772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港元联系汇率制度（与美元挂钩，7.75–7.85），稳定性高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无外汇管制，资金自由进出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全球最大离岸人民币（CNH）中心，日均交易量超 1,500 亿元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CHATS（即时支付）、FPS（转数快）、SWIFT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跨境人民币业务：CIPS 直接参与行，人民币 RTGS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内地-香港跨境资金池：受 SAFE 和 HKMA 双重监管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企业开户：外资企业通常 4–8 周（KYC 要求较严）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FATF 高风险国家客户需强化尽调（EDD）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412480" y="1143000"/>
            <a:ext cx="3566160" cy="5029200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0" y="12344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实操要点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03920" y="1600200"/>
            <a:ext cx="33832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资金池可行性：高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特色：离岸人民币结算首选地，内地企业可通过香港子公司做跨境人民币资金池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注意：开户 KYC 趋严，需准备完整的 UBO 文件和业务证明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46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台湾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监管机构：FSC（金融监督管理委员会）+ CBC（中央银行）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601200" y="137160"/>
            <a:ext cx="2286000" cy="640080"/>
          </a:xfrm>
          <a:prstGeom prst="rect">
            <a:avLst/>
          </a:prstGeom>
          <a:solidFill>
            <a:srgbClr val="D4680A"/>
          </a:solidFill>
          <a:ln w="12700">
            <a:solidFill>
              <a:srgbClr val="D468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0" y="1371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外汇管制：半管制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7772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新台币（TWD）受管制，不可自由离岸交割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居民企业：年度汇出上限 5,000 万美元（超额需 CBC 核准）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非居民企业：通过 OBU（离岸银行单位）操作，不受上限限制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OBU 账户：可持有多币种，不受外汇管制，是跨境操作核心工具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跨境汇款：需提供交易证明文件（合同、发票等）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SWIFT、本地 ACH（CIFS）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企业开户：OBU 账户通常 2–4 周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台湾是半导体供应链核心，中资企业需注意投资审查限制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412480" y="1143000"/>
            <a:ext cx="3566160" cy="5029200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0" y="12344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实操要点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03920" y="1600200"/>
            <a:ext cx="33832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资金池可行性：中等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推荐：通过 OBU 账户操作跨境资金，规避新台币管制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注意：中资背景企业在台投资受《两岸人民关系条例》限制，需法律意见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46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澳大利亚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监管机构：AUSTRAC（反洗钱监管机构）+ APRA（审慎监管）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601200" y="137160"/>
            <a:ext cx="2286000" cy="6400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0" y="1371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外汇管制：自由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7772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无外汇管制，资金自由进出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AML/CTF 法规严格：单笔 AUD 10,000 以上现金交易须申报（TTR）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国际电汇：AUD 10,000 以上须提交国际资金转移指令报告（IFTI）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NPP（新支付平台）：PayID + Osko，7×24 即时到账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年 7 月：ANZ 成为首家通过 NPP 结算跨境交易的主要银行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GPI、BECS（批量电子清算）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企业开户：外资企业通常 2–4 周，需 ASIC 注册证明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中澳贸易：矿产、农业、教育为主要领域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412480" y="1143000"/>
            <a:ext cx="3566160" cy="5029200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0" y="12344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实操要点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03920" y="1600200"/>
            <a:ext cx="33832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资金池可行性：高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推荐：利用 ANZ NPP 实现澳洲本地即时收付，配合 Transactive Global 做跨境资金管理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注意：AUSTRAC 合规要求高，需建立完善的 AML 程序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46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新西兰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监管机构：FMA（金融市场管理局）+ RBNZ（储备银行）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601200" y="137160"/>
            <a:ext cx="2286000" cy="6400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0" y="1371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外汇管制：自由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7772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无外汇管制，资金自由进出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AML/CFT 法规：与澳洲高度对齐，单笔 NZD 10,000 以上需申报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Trans-Tasman 协议：澳新两国金融监管高度互通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支付系统：SWIFT、本地 EFTPOS、即时支付（正在升级中）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企业开户：外资企业通常 2–3 周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中新贸易：农业、乳制品、旅游为主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ANZ 在新西兰市场份额最大，是中资企业首选合作银行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新西兰与澳洲可纳入同一区域资金池架构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412480" y="1143000"/>
            <a:ext cx="3566160" cy="5029200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0" y="12344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实操要点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03920" y="1600200"/>
            <a:ext cx="33832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资金池可行性：高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推荐：澳新合并为一个区域资金池，通过 ANZ Transactive Global 统一管理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注意：新西兰 AML 执法趋严，2024 年起加强对高风险客户审查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46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马来西亚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监管机构：BNM（国家银行）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601200" y="137160"/>
            <a:ext cx="2286000" cy="640080"/>
          </a:xfrm>
          <a:prstGeom prst="rect">
            <a:avLst/>
          </a:prstGeom>
          <a:solidFill>
            <a:srgbClr val="D4680A"/>
          </a:solidFill>
          <a:ln w="12700">
            <a:solidFill>
              <a:srgbClr val="D468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0" y="1371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外汇管制：半管制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7772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林吉特（MYR）不可离岸交割（NDF 市场），是最重要的限制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外汇政策（FEP）：居民企业年度对外投资上限 5,000 万林吉特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非居民企业：可持有外币账户，跨境汇款需提供交易文件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出口收入：须在 6 个月内汇回并兑换为林吉特（部分豁免）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跨境资金池：需 BNM 特别批准，审批周期 3–6 个月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支付系统：DuitNow（即时支付）、RENTAS（RTGS）、IBG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DuitNow 已与新加坡 PayNow 实现跨境互联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企业开户：外资企业通常 4–8 周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412480" y="1143000"/>
            <a:ext cx="3566160" cy="5029200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0" y="12344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实操要点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03920" y="1600200"/>
            <a:ext cx="33832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资金池可行性：受限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关键限制：林吉特不可离岸交割，资金池只能在境内运作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推荐：在马来西亚设立本地资金池，通过外币账户与区域池对接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注意：需提前申请 BNM 豁免，建议委托本地律所协助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46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泰国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监管机构：BOT（泰国银行）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601200" y="137160"/>
            <a:ext cx="2286000" cy="640080"/>
          </a:xfrm>
          <a:prstGeom prst="rect">
            <a:avLst/>
          </a:prstGeom>
          <a:solidFill>
            <a:srgbClr val="D4680A"/>
          </a:solidFill>
          <a:ln w="12700">
            <a:solidFill>
              <a:srgbClr val="D468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0" y="1371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外汇管制：半管制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7772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泰铢（THB）受管制，大额跨境汇款需提供证明文件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外汇管制：单笔超 USD 50,000 需提交外汇交易表格（FET）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FCD 账户（外币存款账户）：企业可持有，但有使用限制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资金汇出：需证明与贸易/投资相关，不得无故汇出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跨境资金池：BOT 允许在特定条件下设立，需申请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PromptPay：即时支付系统，已与新加坡 PayNow 互联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BAHTNET（RTGS）、SWIFT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企业开户：外资企业通常 4–8 周，需 BOI 或 DBD 注册证明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412480" y="1143000"/>
            <a:ext cx="3566160" cy="5029200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0" y="12344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实操要点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03920" y="1600200"/>
            <a:ext cx="33832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资金池可行性：中等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推荐：申请 BOT 跨境资金池许可，以新加坡为枢纽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注意：每笔超 5 万美元的汇款需留存完整的交易证明文件，建议建立标准化文件管理流程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46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印度尼西亚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监管机构：BI（印尼银行）+ OJK（金融服务管理局）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601200" y="137160"/>
            <a:ext cx="2286000" cy="6400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0" y="1371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外汇管制：严格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7772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卢比（IDR）本地化要求：境内交易必须使用卢比结算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外汇管制法（2024 年 12 月新规）：加强外汇流量管理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GWM（法定准备金）：银行须按比例持有卢比准备金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出口收入：须在规定期限内汇回（资源类出口要求更严）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跨境汇款：超 USD 25,000 需提供底层交易文件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跨境资金池：受严格限制，需 BI 特别批准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BIFAST（即时支付）、BI-RTGS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企业开户：外资企业通常 3–6 个月，是东南亚最慢的市场之一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412480" y="1143000"/>
            <a:ext cx="3566160" cy="5029200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0" y="12344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实操要点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03920" y="1600200"/>
            <a:ext cx="33832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资金池可行性：受严格限制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关键挑战：卢比本地化 + 开户周期长 + 外汇管制新规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推荐：优先完成本地合规，再考虑与区域池对接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注意：2024 年新外汇法规定，违规汇款可被没收，务必严格合规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46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越南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监管机构：SBV（越南国家银行）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601200" y="137160"/>
            <a:ext cx="2286000" cy="6400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0" y="1371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外汇管制：严格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7772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越盾（VND）不可自由兑换，严格管制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 账户（外商投资企业账户）：分为资本账户和经常账户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资本账户：用于注册资本汇入/汇出，需 SBV 登记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经常账户：用于日常经营收付，汇出需提供合同/发票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跨境汇款：USD 1,000 以上须向 SBV 报告（2024 年新规）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离岸贷款：中长期需向 SBV 登记，短期延期超 1 年也需登记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跨境资金池：实际操作极为困难，几乎不可行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企业开户：外资企业通常 2–4 个月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412480" y="1143000"/>
            <a:ext cx="3566160" cy="5029200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0" y="12344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实操要点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03920" y="1600200"/>
            <a:ext cx="33832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资金池可行性：极受限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关键限制：越盾不可自由兑换，资金汇出需逐笔提供证明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推荐：在越南设立独立本地账户，通过外币账户（USD/EUR）与区域池对接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注意：越南合规要求持续收紧，建议配备本地合规团队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46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菲律宾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监管机构：BSP（菲律宾中央银行）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601200" y="137160"/>
            <a:ext cx="2286000" cy="640080"/>
          </a:xfrm>
          <a:prstGeom prst="rect">
            <a:avLst/>
          </a:prstGeom>
          <a:solidFill>
            <a:srgbClr val="D4680A"/>
          </a:solidFill>
          <a:ln w="12700">
            <a:solidFill>
              <a:srgbClr val="D468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0" y="1371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外汇管制：半管制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7772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比索（PHP）受管制，大额跨境汇款需申报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外汇申报：携带超 USD 10,000 出入境须申报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企业汇款：超 USD 50,000 需 BSP 事先通知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对外投资：超 USD 6,000 万需 BSP 事先批准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ITRS（国际交易报告系统）：银行须报告所有跨境交易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InstaPay（即时支付）、PESONet（批量清算）、SWIFT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跨境资金池：可行，但需满足 BSP 文件要求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企业开户：外资企业通常 4–8 周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412480" y="1143000"/>
            <a:ext cx="3566160" cy="5029200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0" y="12344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实操要点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03920" y="1600200"/>
            <a:ext cx="33832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资金池可行性：中等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推荐：通过菲律宾本地银行账户操作，配合新加坡区域池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注意：BSP 2024 年更新 FX 报告指引，需确保 ITRS 报告合规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46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个市场横向对比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46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11612880" cy="5486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645920"/>
                <a:gridCol w="1645920"/>
                <a:gridCol w="1645920"/>
                <a:gridCol w="21031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市场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外汇管制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主要货币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申报门槛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资金池可行性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推荐银行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新加坡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SGD/USD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HSBC/渣打/花旗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香港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HKD/CNH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HSBC/渣打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台湾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半管制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TWD/USD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5,000万/年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中（OBU）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渣打/花旗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澳大利亚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 10,000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ANZ/HSBC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新西兰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NZD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NZD 10,000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马来西亚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半管制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MYR（不可离岸）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MYR 5,000万/年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受限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HSBC/渣打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泰国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半管制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50,000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渣打/花旗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印度尼西亚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严格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IDR（本地化）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25,000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极受限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HSBC/渣打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越南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严格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VND（不可兑换）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1,000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极受限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渣打/ANZ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菲律宾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半管制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10,000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花旗/渣打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0"/>
            <a:ext cx="12188952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第三章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重点市场深度解析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新加坡 · 香港 · 澳大利亚 · 印度尼西亚 · 马来西亚 · 越南 · 台湾 · 实操 Q&amp;A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46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新加坡：中资企业出海的首选枢纽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46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394960" cy="2286000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为什么选新加坡？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52120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全球营商环境排名前三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企业税率 17%，有效税率更低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无资本利得税、无股息预扣税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与 90+ 国家签订双边税收协定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亚太区总部首选，超 4,000 家跨国公司设立区域总部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0" y="1005840"/>
            <a:ext cx="5943600" cy="228600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0" y="1078992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资金池架构建议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35040" y="1417320"/>
            <a:ext cx="57607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在新加坡设立区域财资中心（RTC）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申请 MAS 财资中心激励计划（税率可降至 8%）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以新加坡为主池，归集东南亚各子公司余额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推荐银行：HSBC、渣打、花旗（均有完整亚太池方案）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474720"/>
            <a:ext cx="5394960" cy="2560320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54787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支付基础设施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886200"/>
            <a:ext cx="52120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FAST：7×24 即时转账，上限 SGD 200,000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PayNow：实名即时支付（手机号/NRIC/UEN）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SWIFT GPI：跨境汇款追踪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跨境互联：泰国 PromptPay、马来西亚 DuitNow、印度 UPI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3474720"/>
            <a:ext cx="5943600" cy="256032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3547872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合规要点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35040" y="3886200"/>
            <a:ext cx="576072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PSA 2019（2024 修订）：支付机构须持牌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AML/CTF：单笔 SGD 5,000+ 需 CDD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制裁筛查：OFAC、UN、MAS 制裁名单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实益所有人（UBO）：须申报至 ACRA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建议：建立标准化 KYC 文件包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香港：离岸人民币中心与跨境资金通道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46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577840" cy="2560320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离岸人民币（CNH）优势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539496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全球最大 CNH 中心，日均交易量超 1,500 亿元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CNH 与 CNY 汇率独立，可对冲人民币风险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人民币 RTGS：实时大额人民币结算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CIPS 直接参与行：可直接接入内地支付系统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点心债、人民币贷款市场成熟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0" y="1005840"/>
            <a:ext cx="5760720" cy="256032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1078992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内地-香港跨境资金池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0" y="1417320"/>
            <a:ext cx="55778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跨境双向人民币资金池：SAFE 批准，上限按净资产比例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跨境资金池利率：参考 LPR，需在 SAFE 登记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香港子公司可作为内地集团的离岸资金池中心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推荐银行：HSBC（最强 CNH 能力）、渣打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749040"/>
            <a:ext cx="5577840" cy="2377440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82219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开户注意事项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60520"/>
            <a:ext cx="53949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KYC 趋严：需提供完整 UBO 链条文件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高风险行业（加密、博彩）开户极难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建议提前准备：公司章程、股权结构图、业务证明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开户周期：4–8 周，部分银行更长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3749040"/>
            <a:ext cx="5760720" cy="237744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3822192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 转数快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4160520"/>
            <a:ext cx="55778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7×24 即时支付，支持港元和人民币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可通过手机号、邮箱、FPS ID 收款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跨境：香港-内地实时人民币转账（部分银行已开通）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企业收款：可申请企业 FPS ID，提升收款效率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澳大利亚：AUSTRAC 合规与 NPP 即时支付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46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577840" cy="2560320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AUSTRAC 合规要点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539496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现金交易报告（TTR）：AUD 10,000+ 现金须申报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国际资金转移指令（IFTI）：AUD 10,000+ 跨境汇款须报告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AML/CTF 计划：所有汇报实体须制定并执行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制裁筛查：DFAT 制裁名单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违规处罚：最高数亿澳元罚款（2024 年 Star Entertainment 案）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0" y="1005840"/>
            <a:ext cx="5760720" cy="256032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1078992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NPP 新支付平台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0" y="1417320"/>
            <a:ext cx="55778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2018 年上线，澳洲最先进支付基础设施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PayID：用手机号/邮箱/ABN 收款，无需账号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Osko：即时到账（通常 &lt; 60 秒），7×24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2024 年 7 月：ANZ 首家通过 NPP 结算跨境交易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跨境 NPP：入境 AUD 500 以内可近实时到账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749040"/>
            <a:ext cx="5577840" cy="2377440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82219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中澳贸易实操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60520"/>
            <a:ext cx="53949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主要领域：铁矿石、煤炭、天然气、农产品、教育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结算货币：主要为 AUD 和 USD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汇款文件：合同、发票、提单（银行可能要求）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税务：预扣税 10%（股息），利息/特许权使用费需查税协定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3749040"/>
            <a:ext cx="5760720" cy="237744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3822192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常见踩坑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4160520"/>
            <a:ext cx="55778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低估 AUSTRAC 合规成本：需专职合规人员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忽视 IFTI 报告：每笔跨境汇款都需报告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开户材料不全：需 ASIC 注册证明 + 董事护照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汇率风险：AUD 波动大，建议使用远期合约对冲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印度尼西亚：最大但最复杂的东南亚市场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46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577840" cy="2560320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核心挑战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539496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卢比本地化：境内所有交易必须用 IDR 结算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2024 年 12 月新外汇法：加强外汇流量管控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GWM 准备金：银行须持有 IDR 准备金，影响流动性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出口收入：资源类出口须在 3 个月内汇回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开户周期：3–6 个月，是东南亚最慢的市场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0" y="1005840"/>
            <a:ext cx="5760720" cy="256032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1078992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合规路径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0" y="1417320"/>
            <a:ext cx="55778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设立 PT PMA（外商投资有限公司）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在 OJK 注册，获取营业执照（NIB）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开立 IDR 账户 + 外币账户（USD/EUR）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外汇交易：须通过 BI 授权银行，提供底层文件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跨境汇款：超 USD 25,000 需提交 ULN 报告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749040"/>
            <a:ext cx="5577840" cy="2377440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82219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资金池建议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60520"/>
            <a:ext cx="53949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短期：在印尼设立独立本地账户，不纳入区域池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中期：通过外币账户（USD）与新加坡区域池对接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长期：申请 BI 跨境资金池特别许可（需 1–2 年）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推荐银行：HSBC、渣打（本地合规能力强）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3749040"/>
            <a:ext cx="5760720" cy="237744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3822192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实操建议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4160520"/>
            <a:ext cx="55778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提前 6 个月启动开户流程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聘请本地法律顾问协助 OJK 注册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建立完整的外汇交易文件档案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关注 BI 新规动态（2024–2025 年变化频繁）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D4680A"/>
          </a:solidFill>
          <a:ln w="12700">
            <a:solidFill>
              <a:srgbClr val="D468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马来西亚：林吉特管制下的资金运作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46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114300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林吉特（MYR）不可离岸交割：这是最核心的限制，所有 MYR 交易必须在马来西亚境内完成</a:t>
            </a:r>
            <a:endParaRPr lang="en-US" sz="1300" dirty="0"/>
          </a:p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外汇政策（FEP）：居民企业年度对外投资上限 5,000 万林吉特，超额需 BNM 核准</a:t>
            </a:r>
            <a:endParaRPr lang="en-US" sz="1300" dirty="0"/>
          </a:p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出口收入：须在 6 个月内汇回（部分行业有豁免，如制造业出口商）</a:t>
            </a:r>
            <a:endParaRPr lang="en-US" sz="1300" dirty="0"/>
          </a:p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跨境资金池：需向 BNM 申请特别豁免，审批周期 3–6 个月，成功率取决于企业规模和业务性质</a:t>
            </a:r>
            <a:endParaRPr lang="en-US" sz="1300" dirty="0"/>
          </a:p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DuitNow 跨境：已与新加坡 PayNow 实现互联，支持 SGD/MYR 即时转账（上限 MYR 5,000）</a:t>
            </a:r>
            <a:endParaRPr lang="en-US" sz="1300" dirty="0"/>
          </a:p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推荐架构：马来西亚本地资金池（MYR）+ 外币账户（USD/SGD）与新加坡区域池对接</a:t>
            </a:r>
            <a:endParaRPr lang="en-US" sz="1300" dirty="0"/>
          </a:p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BNM 豁免申请：需提供集团架构图、资金流向说明、预期资金规模，建议委托本地律所协助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46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越南：FIE 账户与资金汇出合规路径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46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577840" cy="2560320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 账户体系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539496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FDI 资本账户：用于注册资本汇入/汇出，须在 SBV 登记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经常账户（VND）：日常经营收付，汇出需提供合同/发票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经常账户（外币）：可持有 USD/EUR，用于跨境收付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账户开立：需营业执照 + 投资证书 + SBV 登记证明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0" y="1005840"/>
            <a:ext cx="5760720" cy="256032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1078992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资金汇出路径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0" y="1417320"/>
            <a:ext cx="55778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利润汇出：年度审计完成后，凭审计报告汇出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股息汇出：需完税证明 + 审计报告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服务费汇出：需合同 + 发票 + 完税证明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贷款还款：需 SBV 登记的贷款合同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所有汇出：USD 1,000+ 须向 SBV 报告（2024 新规）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749040"/>
            <a:ext cx="5577840" cy="2377440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82219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实操建议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60520"/>
            <a:ext cx="53949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建立完整的交易文件档案（合同、发票、完税证明）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提前规划利润汇出时间（年度审计后才能汇出）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考虑通过香港子公司作为中间层，简化资金流转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推荐银行：渣打、ANZ（越南本地合规能力强）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3749040"/>
            <a:ext cx="5760720" cy="237744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3822192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年新规要点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4160520"/>
            <a:ext cx="55778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Decree 52：加强对支付服务提供商的监管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跨境报告门槛降至 USD 1,000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离岸贷款：中长期须向 SBV 登记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短期贷款延期超 1 年也需登记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建议：定期关注 SBV 政策更新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台湾：OBU 账户与新台币管制下的跨境操作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46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114300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OBU（离岸银行单位）：台湾最重要的跨境资金工具，不受外汇管制，可持有多币种</a:t>
            </a:r>
            <a:endParaRPr lang="en-US" sz="1300" dirty="0"/>
          </a:p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OBU 账户特点：免税（利息所得免税）、无外汇限制、可与境外账户自由转账</a:t>
            </a:r>
            <a:endParaRPr lang="en-US" sz="1300" dirty="0"/>
          </a:p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新台币管制：居民企业年度汇出上限 5,000 万美元，超额需 CBC 核准</a:t>
            </a:r>
            <a:endParaRPr lang="en-US" sz="1300" dirty="0"/>
          </a:p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非居民企业：通过 OBU 操作，不受新台币汇出限制</a:t>
            </a:r>
            <a:endParaRPr lang="en-US" sz="1300" dirty="0"/>
          </a:p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跨境汇款：需提供交易证明文件（合同、发票），银行会进行 AML 审查</a:t>
            </a:r>
            <a:endParaRPr lang="en-US" sz="1300" dirty="0"/>
          </a:p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台湾 RMB 业务：台湾是重要的离岸人民币中心，CBC 公布月度 RMB 业务数据</a:t>
            </a:r>
            <a:endParaRPr lang="en-US" sz="1300" dirty="0"/>
          </a:p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中资背景注意：《两岸人民关系条例》对中资在台投资有限制，需法律意见</a:t>
            </a:r>
            <a:endParaRPr lang="en-US" sz="1300" dirty="0"/>
          </a:p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推荐银行：渣打台湾、花旗台湾（OBU 业务经验丰富）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实操 Q&amp;A：银行专员最常遇到的问题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46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57200" cy="10972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114300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客户问：我在新加坡和马来西亚都有子公司，能建一个统一的资金池吗？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60020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A：可以，但马来西亚部分需要 BNM 豁免。建议以新加坡为主池，马来西亚通过外币账户（USD）对接，MYR 余额留在本地。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423160"/>
            <a:ext cx="457200" cy="10972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246888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客户问：越南子公司的利润怎么汇回中国？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292608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A：需完成年度审计，凭审计报告和完税证明，通过 FDI 资本账户汇出。建议提前 3 个月规划，避免年底资金紧张。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749040"/>
            <a:ext cx="457200" cy="10972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379476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客户问：澳大利亚每笔跨境汇款都要报告吗？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425196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A：是的，AUD 10,000 以上的跨境汇款（IFTI）须向 AUSTRAC 报告，这是银行的法定义务，客户无需额外操作，但需配合提供交易目的。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5074920"/>
            <a:ext cx="457200" cy="10972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5394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512064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客户问：香港开户为什么这么难？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557784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A：2020 年后 HKMA 加强 AML 要求，银行对高风险客户（含中资背景）审查趋严。建议提前准备完整的 UBO 文件、业务证明和资金来源说明。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0"/>
            <a:ext cx="12188952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第四章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跨境资金池产品对比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HSBC · 渣打 · 花旗 · 摩根大通 · ANZ · Transactive Global · NPP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46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跨境资金池基础概念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46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566160" cy="2560320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7899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实体池（Physical Pooling）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3832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资金实际归集到主账户。子公司余额每日自动扫入主池，集团统一调配。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优点：资金利用率最高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缺点：需满足各国外汇管制要求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0" y="1005840"/>
            <a:ext cx="3566160" cy="256032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0" y="107899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虚拟池（Notional Pooling）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06240" y="1417320"/>
            <a:ext cx="33832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资金不实际移动，银行在计算利息时将各账户余额合并计算。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优点：规避外汇管制限制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缺点：部分国家不允许（如德国）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863840" y="1005840"/>
            <a:ext cx="4023360" cy="2560320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0" y="10789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混合池（Hybrid）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955280" y="1417320"/>
            <a:ext cx="38404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自由市场用实体池，管制市场用虚拟池，通过主账户统一管理。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优点：灵活应对不同市场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缺点：架构复杂，管理成本高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749040"/>
            <a:ext cx="3566160" cy="237744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82219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单币种池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160520"/>
            <a:ext cx="338328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所有账户使用同一货币（如 USD）。结构简单，适合贸易型企业。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0" y="3749040"/>
            <a:ext cx="3566160" cy="2377440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0" y="382219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多币种池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06240" y="4160520"/>
            <a:ext cx="338328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支持多种货币，银行提供 FX 转换服务。适合跨国集团，需关注汇率风险。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863840" y="3749040"/>
            <a:ext cx="4023360" cy="237744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0" y="38221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区域池 vs 全球池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955280" y="4160520"/>
            <a:ext cx="384048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区域池：覆盖特定地区（如亚太）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全球池：覆盖全球，通常需要大型跨国银行支持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DB0011"/>
          </a:solidFill>
          <a:ln w="12700">
            <a:solidFill>
              <a:srgbClr val="DB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HSBC — Global Liquidity and Cash Management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46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577840" cy="2560320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核心产品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539496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HSBCnet：全球统一网银平台，支持 200+ 国家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Global Liquidity Solutions：实体池 + 虚拟池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亚太区多币种资金池：覆盖 15+ 亚太市场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FX 解决方案：即时 FX、远期合约、期权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Banking：实时余额查询、付款发起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0" y="1005840"/>
            <a:ext cx="5760720" cy="256032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1078992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亚太区优势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0" y="1417320"/>
            <a:ext cx="55778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亚太区最强的本地网络（14 个市场有本地牌照）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离岸人民币（CNH）业务全球领先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2024 年 Euromoney 评选：全球最佳支付与财资银行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中资企业服务经验丰富，有专属中资企业团队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新加坡财资中心激励计划申请支持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749040"/>
            <a:ext cx="5577840" cy="2377440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82219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适合客群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60520"/>
            <a:ext cx="53949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大型中资跨国企业（年营收 5 亿美元以上）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需要全球资金池的集团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有离岸人民币需求的企业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在东南亚多国有子公司的企业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3749040"/>
            <a:ext cx="5760720" cy="237744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3822192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注意事项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4160520"/>
            <a:ext cx="55778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最低规模要求较高（通常需要较大资金量）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开户 KYC 严格，周期较长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费用结构复杂，需仔细谈判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建议：要求 HSBC 提供亚太区专属方案报价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A0D2"/>
          </a:solidFill>
          <a:ln w="12700">
            <a:solidFill>
              <a:srgbClr val="00A0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渣打银行 — Straight2Bank &amp; 新兴市场优势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46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577840" cy="2560320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Straight2Bank 平台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539496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统一网银平台，覆盖 50+ 市场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实时余额查询、付款发起、FX 交易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集成：支持 ERP 系统直连（SAP、Oracle）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虚拟账户：为每个客户/供应商生成唯一账号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与 Wise Platform 合作：提升跨境支付速度和透明度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0" y="1005840"/>
            <a:ext cx="5760720" cy="256032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1078992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新兴市场优势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0" y="1417320"/>
            <a:ext cx="55778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东南亚本地化最强：在越南、印尼、缅甸等市场有深厚积累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非洲、中东、南亚覆盖广（HSBC 和花旗相对弱）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本地合规团队：熟悉各国外汇管制规则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中资企业出海：提供一站式开户和合规支持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越南、印尼市场：渣打是中资企业首选银行之一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749040"/>
            <a:ext cx="5577840" cy="2377440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82219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适合客群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60520"/>
            <a:ext cx="53949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在新兴市场（东南亚、非洲、中东）有业务的企业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需要本地化合规支持的中资企业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中型跨国企业（年营收 1–10 亿美元）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供应链金融需求较强的企业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3749040"/>
            <a:ext cx="5760720" cy="237744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3822192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注意事项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4160520"/>
            <a:ext cx="55778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全球池能力弱于 HSBC 和花旗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欧美市场覆盖相对有限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建议：渣打 + 另一家全球银行组合使用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优势场景：东南亚多国资金归集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花旗银行 — TreasuryVision &amp; 全球现金池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46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577840" cy="2560320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TreasuryVision 平台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539496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全球统一财资管理平台，覆盖 160+ 国家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实时全球余额可视化（单一视图）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预测性现金流分析（AI 驱动）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多币种实体池 + 虚拟池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CitiConnect API：与 ERP/TMS 系统深度集成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全球支付追踪：SWIFT GPI 全程可视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0" y="1005840"/>
            <a:ext cx="5760720" cy="256032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1078992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全球现金池优势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0" y="1417320"/>
            <a:ext cx="55778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全球最大的现金管理银行之一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覆盖市场最广：160+ 国家，包括许多其他银行不覆盖的市场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技术领先：API 能力和数字化程度最高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机构级服务：主要服务大型跨国企业和金融机构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亚太区：在新加坡、香港、台湾有强大的财资中心业务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749040"/>
            <a:ext cx="5577840" cy="2377440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82219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适合客群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60520"/>
            <a:ext cx="53949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大型跨国企业（年营收 10 亿美元以上）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需要全球统一资金池的集团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技术驱动型企业（需要 API 集成）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在多个大洲有业务的企业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3749040"/>
            <a:ext cx="5760720" cy="237744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3822192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注意事项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4160520"/>
            <a:ext cx="55778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门槛最高，中小企业难以获得优质服务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费用较高，需要较大资金规模才能摊薄成本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部分新兴市场（如越南）本地化能力弱于渣打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建议：适合已有全球业务布局的大型中资企业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摩根大通 — ACCESS &amp; 机构级服务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46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577840" cy="2560320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平台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539496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全球统一现金管理平台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实时余额查询、付款发起、流动性管理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多币种账户管理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全球支付网络：覆盖 120+ 货币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2024 年 Coalition Greenwich 亚洲质量领导奖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区块链支付：JPM Coin 用于机构间即时结算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0" y="1005840"/>
            <a:ext cx="5760720" cy="256032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1078992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机构级优势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0" y="1417320"/>
            <a:ext cx="55778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全球最大的银行之一，资产负债表最强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机构级服务：主要服务大型企业和金融机构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亚太区：在新加坡、香港有强大的财资业务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跨境支付网络：全球最广泛的代理行网络之一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创新能力：区块链、AI 在支付领域的应用领先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749040"/>
            <a:ext cx="5577840" cy="2377440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82219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适合客群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60520"/>
            <a:ext cx="53949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超大型跨国企业和金融机构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需要最高信用评级银行合作的企业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有复杂衍生品和融资需求的企业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在美国有重要业务的中资企业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3749040"/>
            <a:ext cx="5760720" cy="237744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3822192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注意事项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4160520"/>
            <a:ext cx="55778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门槛极高，通常只服务大型机构客户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东南亚新兴市场本地化能力弱于 HSBC 和渣打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中资企业合规审查严格（美国监管背景）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建议：适合有美国业务或需要顶级信用背书的大型中资企业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DBA"/>
          </a:solidFill>
          <a:ln w="12700">
            <a:solidFill>
              <a:srgbClr val="007DB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ANZ — 亚太走廊与中资企业专属方案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46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577840" cy="2560320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亚太区优势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539496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澳大利亚和新西兰市场份额最大的银行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亚太走廊：澳新 ↔ 东南亚（新加坡、越南、菲律宾、印尼）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中资企业专属团队：提供中文服务和本地化支持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澳新资金池：澳大利亚 + 新西兰合并资金池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矿产、农业、教育领域深厚积累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0" y="1005840"/>
            <a:ext cx="5760720" cy="256032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1078992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跨境支付能力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0" y="1417320"/>
            <a:ext cx="55778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ANZ Transactive Global：多币种跨境支付平台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NPP：澳洲即时支付，2024 年首家实现跨境 NPP 结算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SWIFT GPI：全程追踪跨境汇款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实时 FX：支持 30+ 货币即时兑换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Banking：与企业 ERP 系统集成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749040"/>
            <a:ext cx="5577840" cy="2377440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82219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适合客群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60520"/>
            <a:ext cx="53949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在澳大利亚/新西兰有业务的中资企业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矿产、农业、教育、房地产领域企业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需要澳新 ↔ 东南亚资金走廊的企业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中型企业（年营收 5,000 万–5 亿美元）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3749040"/>
            <a:ext cx="5760720" cy="237744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3822192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注意事项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4160520"/>
            <a:ext cx="55778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全球覆盖不如 HSBC/花旗广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欧美市场能力相对有限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优势场景：澳新 + 东南亚区域资金管理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建议：澳新业务首选 ANZ，配合 HSBC/渣打覆盖其他市场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5B99"/>
          </a:solidFill>
          <a:ln w="12700">
            <a:solidFill>
              <a:srgbClr val="005B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ANZ Transactive Global — 跨境支付平台详解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46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657600" cy="5029200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核心功能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474720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多币种账户管理（单一平台）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跨境付款：支持 30+ 货币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实时汇率查询和 FX 交易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批量付款：支持 CSV 批量上传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付款审批工作流：多级授权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账户余额实时查询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交易历史和对账报告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支持市场：澳大利亚、新西兰、中国、香港、印度、新加坡、越南、菲律宾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06240" y="1005840"/>
            <a:ext cx="3657600" cy="502920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107899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技术特点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0" y="1417320"/>
            <a:ext cx="3474720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 端 + 移动端（iOS/Android）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集成：RESTful API，支持 ERP 直连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SWIFT GPI：跨境汇款全程追踪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安全：多因素认证（MFA）、IP 白名单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审批框架：可设置金额限制和授权层级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报告：可定制化财务报告和对账单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2025 年 9 月更新：越南付款支持更多特殊字符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1005840"/>
            <a:ext cx="3840480" cy="5029200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0" y="10789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与竞品对比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38160" y="1417320"/>
            <a:ext cx="3657600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vs HSBC HSBCnet：ANZ 在澳新市场更强，HSBC 全球覆盖更广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vs 渣打 S2B：ANZ 技术平台更现代，渣打新兴市场更强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vs 花旗 TreasuryVision：花旗全球覆盖更广，ANZ 澳新本地化更好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最佳使用场景：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澳新 ↔ 东南亚资金走廊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中资企业澳洲本地收付款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多币种账户统一管理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5B99"/>
          </a:solidFill>
          <a:ln w="12700">
            <a:solidFill>
              <a:srgbClr val="005B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ANZ NPP — 澳洲新支付平台（New Payments Platform）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46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51760" cy="1371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7×24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全天候即时到账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651760" cy="1371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0972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60秒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9184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通常到账时间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005840"/>
            <a:ext cx="2651760" cy="1371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0972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 500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21792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跨境入境近实时上限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0" y="1005840"/>
            <a:ext cx="2651760" cy="1371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0" y="10972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400+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14400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已接入国际银行数量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651760"/>
            <a:ext cx="3657600" cy="3474720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72491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063240"/>
            <a:ext cx="34747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用手机号、邮箱或 ABN 收款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无需提供 BSB + 账号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企业可申请企业 PayID（ABN）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降低收款错误率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适合：电商收款、供应商付款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06240" y="2651760"/>
            <a:ext cx="3657600" cy="347472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0" y="272491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Osko 即时支付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297680" y="3063240"/>
            <a:ext cx="34747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基于 NPP 的即时支付服务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7×24 全天候，包括节假日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通常 60 秒内到账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支持附言（280 字符）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适合：工资发放、紧急付款、供应商结算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46720" y="2651760"/>
            <a:ext cx="3840480" cy="3474720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38160" y="27249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跨境 NPP（2024 年新功能）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138160" y="3063240"/>
            <a:ext cx="365760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ANZ 首家通过 NPP 结算跨境交易（2024 年 7 月）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入境 AUD 500 以内：近实时到账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已接入 400+ 国际银行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2024 年 12 月：扩展至所有 AUD 清算服务客户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意义：跨境汇款速度大幅提升，接近国内转账体验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六家银行横向对比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46</a:t>
            </a:r>
            <a:endParaRPr lang="en-US" sz="9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11612880" cy="5486400"/>
        </p:xfrm>
        <a:graphic>
          <a:graphicData uri="http://schemas.openxmlformats.org/drawingml/2006/table">
            <a:tbl>
              <a:tblPr/>
              <a:tblGrid>
                <a:gridCol w="2011680"/>
                <a:gridCol w="2560320"/>
                <a:gridCol w="2011680"/>
                <a:gridCol w="2011680"/>
                <a:gridCol w="301752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银行/平台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覆盖市场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池类型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技术平台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适合客群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HSBC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200+ 国家，亚太最强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实体+虚拟+多币种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HSBCnet + API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大型跨国企业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渣打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50+ 市场，新兴市场强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实体+虚拟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Straight2Bank + API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中型企业，新兴市场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花旗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160+ 国家，全球最广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实体+虚拟+全球池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TreasuryVision + API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超大型跨国企业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摩根大通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120+ 货币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实体+虚拟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+ JPM Coin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机构级大型企业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澳新+东南亚走廊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实体+区域池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Transactive Global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澳新业务中型企业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ANZ Transactive Global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澳新+8个亚太市场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多币种账户管理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Web+API+移动端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澳新↔东南亚企业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ANZ NPP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澳大利亚（跨境扩展中）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即时支付基础设施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PayID+Osko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澳洲本地+跨境入境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0"/>
            <a:ext cx="12188952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第五章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中资企业出海案例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制造业 · 科技企业 · 贸易企业 · 澳新市场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46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案例概览：选案标准与覆盖范围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46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5577840" cy="2377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258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案例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63040" y="1325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制造业出海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市场：越南 + 泰国 + 马来西亚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方案：东南亚三国区域资金池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560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查看详情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188720"/>
            <a:ext cx="5577840" cy="2377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3258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案例 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0" y="1325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科技企业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1783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市场：新加坡区域总部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2148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方案：亚太虚拟资金池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2560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查看详情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840480"/>
            <a:ext cx="5577840" cy="2377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9776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案例 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3977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贸易企业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" y="4434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市场：香港 + 新加坡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8006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方案：跨境人民币结算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5212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查看详情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3840480"/>
            <a:ext cx="5577840" cy="2377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39776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案例 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0" y="3977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澳新市场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00800" y="4434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市场：澳大利亚 + 新西兰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0" y="48006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方案：ANZ Transactive Global 落地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0" y="5212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查看详情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案例 1：制造业出海 — 东南亚三国区域资金池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46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474720" cy="5120640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企业背景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29184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行业：电子制造业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规模：年营收约 8 亿美元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布局：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越南：主要生产基地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泰国：区域分销中心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马来西亚：研发中心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新加坡：区域总部（财资中心）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痛点：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三国子公司各自持有本地货币余额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集团无法统一调配资金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每月跨境汇款手续费超 50 万美元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越南利润汇出流程繁琐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23360" y="1005840"/>
            <a:ext cx="4023360" cy="512064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10789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解决方案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0" y="1417320"/>
            <a:ext cx="3840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合作银行：渣打银行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架构设计：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新加坡设立主资金池（USD）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越南：外币账户（USD）每日扫账至新加坡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泰国：FCD 账户（USD）每日扫账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马来西亚：外币账户（USD）每日扫账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各国 MYR/THB/VND 余额保留本地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关键合规动作：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越南：SBV 登记 + 逐笔文件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泰国：BOT 跨境资金池申请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马来西亚：BNM 豁免申请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0" y="1005840"/>
            <a:ext cx="3657600" cy="5120640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107899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21040" y="1417320"/>
            <a:ext cx="347472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资金利用率提升 35%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跨境汇款成本降低 60%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集团层面实现统一资金视图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越南利润汇出流程标准化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关键经验：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合规先行：提前 6 个月启动各国合规申请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分阶段实施：先新加坡+泰国，再加入越南和马来西亚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本地团队：每个市场配备本地合规专员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文件管理：建立标准化交易文件模板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案例 2：科技企业 — 新加坡区域总部亚太虚拟资金池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/ 46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474720" cy="5120640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企业背景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29184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行业：SaaS 软件企业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规模：年营收约 3 亿美元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布局：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新加坡：亚太区总部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中国：研发中心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日本、韩国、澳大利亚：销售子公司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印度：技术支持中心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痛点：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多国子公司余额分散，无法统一管理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外汇风险敞口大（JPY/KRW/AUD/INR）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集团内部资金调拨效率低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缺乏统一的财资可视化工具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23360" y="1005840"/>
            <a:ext cx="4023360" cy="512064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10789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解决方案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0" y="1417320"/>
            <a:ext cx="3840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合作银行：HSBC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架构设计：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新加坡设立区域财资中心（RTC）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申请 MAS 财资中心激励计划（税率 8%）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虚拟资金池：各子公司账户余额合并计息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HSBCnet：统一财资管理平台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FX 对冲：通过 HSBC 做多币种远期合约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关键功能：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实时全球余额可视化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自动 FX 对冲触发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集团内部贷款（Intercompany Loan）管理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0" y="1005840"/>
            <a:ext cx="3657600" cy="5120640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107899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21040" y="1417320"/>
            <a:ext cx="347472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资金利用率提升 28%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FX 对冲成本降低 40%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财资团队人员减少 30%（自动化）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获得 MAS 财资中心激励，税率从 17% 降至 8%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关键经验：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新加坡 RTC 是亚太区最优架构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虚拟池规避了日本、韩国的外汇管制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MAS 激励计划申请需提前 6 个月准备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HSBC 的 CNH 能力支持了中国子公司的人民币管理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案例 3：贸易企业 — 香港+新加坡跨境人民币结算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/ 46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474720" cy="5120640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企业背景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29184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行业：大宗商品贸易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规模：年营收约 15 亿美元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布局：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中国内地：采购中心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香港：贸易结算中心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新加坡：区域销售中心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东南亚多国：客户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痛点：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内地采购用人民币，东南亚销售用美元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汇率风险大，每年汇兑损失超 500 万美元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香港-内地资金调拨效率低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缺乏人民币跨境结算能力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23360" y="1005840"/>
            <a:ext cx="4023360" cy="512064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10789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解决方案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0" y="1417320"/>
            <a:ext cx="3840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合作银行：HSBC（香港+内地）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架构设计：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香港设立离岸人民币（CNH）账户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内地-香港跨境人民币资金池（SAFE 批准）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新加坡设立 USD 区域资金池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香港作为 CNH ↔ USD 转换枢纽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人民币跨境结算：通过 CIPS 直接与内地对接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关键功能：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CNH/CNY 套利管理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跨境人民币资金池（双向）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实时 FX 对冲（CNH/USD）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0" y="1005840"/>
            <a:ext cx="3657600" cy="5120640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107899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21040" y="1417320"/>
            <a:ext cx="347472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汇兑损失减少 70%（FX 对冲）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内地-香港资金调拨 T+0 实现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人民币结算比例从 20% 提升至 55%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融资成本降低（利用 CNH 市场低利率）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关键经验：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香港是人民币跨境结算的最优枢纽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SAFE 跨境资金池申请需要集团层面协调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CNH 与 CNY 汇差可以创造套利机会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HSBC 的 CIPS 直接参与行资格是关键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DBA"/>
          </a:solidFill>
          <a:ln w="12700">
            <a:solidFill>
              <a:srgbClr val="007DB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案例 4：澳新市场 — ANZ Transactive Global 合规落地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/ 46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474720" cy="5120640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企业背景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29184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行业：矿产资源贸易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规模：年营收约 5 亿澳元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布局：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中国内地：总部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澳大利亚：矿产采购和本地运营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新西兰：农产品采购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新加坡：区域财资中心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痛点：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澳洲 AUSTRAC 合规要求不熟悉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澳新两国账户分散，无法统一管理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跨境汇款到中国速度慢（T+2 到 T+3）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缺乏澳洲本地即时收款能力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23360" y="1005840"/>
            <a:ext cx="4023360" cy="512064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10789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解决方案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0" y="1417320"/>
            <a:ext cx="3840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合作银行：ANZ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架构设计：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ANZ Transactive Global：统一管理澳新账户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PayID 注册：用 ABN 作为企业 PayID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Osko 即时收款：供应商付款即时到账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澳新合并资金池：AUD + NZD 统一管理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跨境 NPP：入境 AUD 500 以内近实时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AUSTRAC 合规：ANZ 协助建立 AML/CTF 计划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关键合规动作：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AUSTRAC 注册为汇报实体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建立 AML/CTF 计划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IFTI 报告流程自动化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0" y="1005840"/>
            <a:ext cx="3657600" cy="5120640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107899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21040" y="1417320"/>
            <a:ext cx="347472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AUSTRAC 合规 100% 达标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澳新资金统一可视化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本地收款时间从 T+1 缩短至即时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跨境汇款成本降低 45%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通过 NPP 实现部分跨境近实时到账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关键经验：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ANZ 是澳新市场中资企业的最佳合作伙伴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AUSTRAC 合规需要专职人员，不可忽视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PayID 显著提升了本地收款效率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澳新合并资金池是最优架构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总结与行动建议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20040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417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合规先行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91840" y="141732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在任何市场开展业务前，先完成外汇管制研究和合规架构设计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20040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94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枢纽策略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21488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以新加坡（东南亚）和香港（人民币）为区域资金池枢纽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320040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926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880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分层架构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28803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自由市场用实体池，管制市场用外币账户对接，严格管制市场独立运作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320040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657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611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银行组合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91840" y="361188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单一银行无法覆盖所有市场，建议 HSBC/渣打 + ANZ 组合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389120"/>
            <a:ext cx="320040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389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4343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技术投入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91840" y="434340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集成和统一财资平台是降低运营成本的关键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5212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如有问题，请联系跨境业务团队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/ 46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参考资料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/ 46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MAS（新加坡金融管理局）：mas.gov.sg — 支付服务法、AML/CTF 指引</a:t>
            </a:r>
            <a:endParaRPr lang="en-US" sz="12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HKMA（香港金融管理局）：hkma.gov.hk — 跨境人民币业务指引</a:t>
            </a:r>
            <a:endParaRPr lang="en-US" sz="12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BNM（马来西亚国家银行）：bnm.gov.my — 外汇政策（FEP）</a:t>
            </a:r>
            <a:endParaRPr lang="en-US" sz="12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BOT（泰国银行）：bot.or.th — 外汇管制规则</a:t>
            </a:r>
            <a:endParaRPr lang="en-US" sz="12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Indonesia：bi.go.id — 外汇管理法规（2024 年新规）</a:t>
            </a:r>
            <a:endParaRPr lang="en-US" sz="12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SBV（越南国家银行）：sbv.gov.vn — 外商投资企业账户规定</a:t>
            </a:r>
            <a:endParaRPr lang="en-US" sz="12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BSP（菲律宾中央银行）：bsp.gov.ph — FX 报告指引</a:t>
            </a:r>
            <a:endParaRPr lang="en-US" sz="12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AUSTRAC：austrac.gov.au — AML/CTF 法规、IFTI 报告要求</a:t>
            </a:r>
            <a:endParaRPr lang="en-US" sz="12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ANZ：anz.com/institutional/transactive — Transactive Global 平台</a:t>
            </a:r>
            <a:endParaRPr lang="en-US" sz="12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ANZ NPP：anz.com.au/newsroom — 跨境 NPP 新闻稿（2024 年 7 月）</a:t>
            </a:r>
            <a:endParaRPr lang="en-US" sz="12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CBC（台湾中央银行）：cbc.gov.tw — OBU 月度数据</a:t>
            </a:r>
            <a:endParaRPr lang="en-US" sz="12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HSBC Global Banking：gbm.hsbc.com — 亚太区现金管理解决方案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2026-03-15T03:25:46Z</dcterms:created>
  <dcterms:modified xsi:type="dcterms:W3CDTF">2026-03-15T03:25:46Z</dcterms:modified>
</cp:coreProperties>
</file>